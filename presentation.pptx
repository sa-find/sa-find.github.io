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65" r:id="rId4"/>
    <p:sldId id="258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71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98" autoAdjust="0"/>
    <p:restoredTop sz="94660"/>
  </p:normalViewPr>
  <p:slideViewPr>
    <p:cSldViewPr snapToGrid="0">
      <p:cViewPr varScale="1">
        <p:scale>
          <a:sx n="63" d="100"/>
          <a:sy n="63" d="100"/>
        </p:scale>
        <p:origin x="648" y="5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B529F3-F06F-4596-8F53-725C5338C942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CFA19B-BB2D-4F31-BF43-98359269AE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040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FC4D8-7267-481C-97FB-88531F8E74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045EB4-C8E9-4276-9892-A8BD1C24C1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1952CF-CF54-495A-A737-C76F22C53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59539-6AA4-4B20-8277-ACCA791514EF}" type="datetimeFigureOut">
              <a:rPr lang="en-US" smtClean="0"/>
              <a:pPr/>
              <a:t>8/9/2026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2F82B9-480E-49D4-AFD3-A3BC21B8A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CFFCE-F9B6-482C-816E-091792F26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FD5A-4082-4BE4-96FC-4C4C607629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971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67FC0-FF7C-4F6B-A842-ECAEDD755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CF3BD4-EEBC-444E-88DB-259F6F33A3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2BFAAB-6BAC-4D88-8AF7-FC846BF04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59539-6AA4-4B20-8277-ACCA791514EF}" type="datetimeFigureOut">
              <a:rPr lang="en-US" smtClean="0"/>
              <a:pPr/>
              <a:t>8/9/2026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6DD7F4-E6AC-4CB6-B687-556E6DB5B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A703C-113A-46CC-AC65-292EB067D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FD5A-4082-4BE4-96FC-4C4C607629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042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E7A4B-0F44-4E42-939A-CDE6C4A49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2440" y="307011"/>
            <a:ext cx="6787025" cy="298608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3B6593-CC60-4C4A-B097-A7D3799BD5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02440" y="3883454"/>
            <a:ext cx="6787025" cy="792283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2">
                    <a:lumMod val="1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6C689-8E98-4045-AAAC-AC66298D8C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23411" y="5266097"/>
            <a:ext cx="1482526" cy="365125"/>
          </a:xfrm>
        </p:spPr>
        <p:txBody>
          <a:bodyPr/>
          <a:lstStyle/>
          <a:p>
            <a:fld id="{FFA59539-6AA4-4B20-8277-ACCA791514EF}" type="datetimeFigureOut">
              <a:rPr lang="en-US" smtClean="0"/>
              <a:pPr/>
              <a:t>8/9/2026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A7DCE6-A108-4CE1-BB08-97701D342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71167" y="5266096"/>
            <a:ext cx="202653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28B96D-492C-4CC3-A033-5EA3A2F3C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62931" y="5266095"/>
            <a:ext cx="2026534" cy="365125"/>
          </a:xfrm>
        </p:spPr>
        <p:txBody>
          <a:bodyPr/>
          <a:lstStyle/>
          <a:p>
            <a:fld id="{C52AFD5A-4082-4BE4-96FC-4C4C607629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465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E1157-304E-4446-9FA2-A0D0F7A50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B4CE9E-70A6-48AD-A24A-13D5743836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0BE2C5-1B89-4EE8-A540-906472A1FB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4BB858-CDD0-459B-8AA4-9272BD26A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59539-6AA4-4B20-8277-ACCA791514EF}" type="datetimeFigureOut">
              <a:rPr lang="en-US" smtClean="0"/>
              <a:pPr/>
              <a:t>8/9/2026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B7E86D-82BE-4E26-A9C3-95CC0F497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7D830B-C931-46B1-8F17-16243BFDF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FD5A-4082-4BE4-96FC-4C4C607629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577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CABEE-5ED7-4733-B755-CB96ADE7A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1A0618-A658-46BD-AB6D-8208DA7FC8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867DBE-C48C-42A1-94A3-9527A0944B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F27F4C-4D8F-4F03-9881-DADD3BC808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57925D-369F-411F-B885-734AB70D29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3643A2-98F3-42F1-9A82-FA5FFD7F8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59539-6AA4-4B20-8277-ACCA791514EF}" type="datetimeFigureOut">
              <a:rPr lang="en-US" smtClean="0"/>
              <a:pPr/>
              <a:t>8/9/2026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162CF4-4E17-4D39-8E8E-8949A9CD9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DEEB83-1757-489A-8EE3-E5F48A357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FD5A-4082-4BE4-96FC-4C4C607629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987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650B1-6BD1-4645-81EE-9AC7858D8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7856AC-1564-422B-A261-A405B2217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59539-6AA4-4B20-8277-ACCA791514EF}" type="datetimeFigureOut">
              <a:rPr lang="en-US" smtClean="0"/>
              <a:pPr/>
              <a:t>8/9/2026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5EC8FB-F905-4A5D-AB53-12C1AADB9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C74DBB-D2BA-424E-A50D-E0D78897E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FD5A-4082-4BE4-96FC-4C4C607629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188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992351-298C-4CA7-A9E3-56F637FA4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59539-6AA4-4B20-8277-ACCA791514EF}" type="datetimeFigureOut">
              <a:rPr lang="en-US" smtClean="0"/>
              <a:pPr/>
              <a:t>8/9/2026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F81D90-C9C0-4B17-89C3-13DA3A911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9E314D-FD1B-4975-AE16-9CDCC6342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FD5A-4082-4BE4-96FC-4C4C607629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520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29E3F-372A-407D-B334-3FD277550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240B83-8870-4B46-9F59-5CC84DEFB0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8CC3D7-7F10-42DA-8696-266C3AE69E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7E5CF6-7F8D-4850-9864-97DA86EA7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59539-6AA4-4B20-8277-ACCA791514EF}" type="datetimeFigureOut">
              <a:rPr lang="en-US" smtClean="0"/>
              <a:pPr/>
              <a:t>8/9/2026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646AFE-B880-46F5-B5C6-2DEC8AAFB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375EDA-D7C7-4D5B-8ADA-2C4C0D169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FD5A-4082-4BE4-96FC-4C4C607629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897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0A279-B977-4A7C-87E5-62231D946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C0D755-8571-44A5-AE1A-89C9201F5B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734A2E-AFFE-48A4-A1FD-8FC6BEE61F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85560A-540C-47FC-A6B0-665522069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59539-6AA4-4B20-8277-ACCA791514EF}" type="datetimeFigureOut">
              <a:rPr lang="en-US" smtClean="0"/>
              <a:pPr/>
              <a:t>8/9/2026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9A1103-4151-4737-9D9F-ECB366AA7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F0B3C5-F017-4E10-86F3-4C24DEFA8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FD5A-4082-4BE4-96FC-4C4C607629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458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1024C-8551-48EC-85CB-36598BBE2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7669F4-208D-4BAB-82BE-F275945E2B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81D84-11A2-4845-9DEE-21A1FB2F7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59539-6AA4-4B20-8277-ACCA791514EF}" type="datetimeFigureOut">
              <a:rPr lang="en-US" smtClean="0"/>
              <a:pPr/>
              <a:t>8/9/2026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461C0-7A06-45C8-A0F8-23FAD46F3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B6CCC8-2ED3-42E3-8030-B0E9DF796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FD5A-4082-4BE4-96FC-4C4C607629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293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05E5C2-3281-4A33-88C5-C97138BFAC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0B8C3E-19EC-4156-82C4-FA8E3ACF7D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78D120-4C33-4D5C-A088-1E7779637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59539-6AA4-4B20-8277-ACCA791514EF}" type="datetimeFigureOut">
              <a:rPr lang="en-US" smtClean="0"/>
              <a:pPr/>
              <a:t>8/9/2026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18C907-51F8-4CCC-8671-CA5B649EB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480B0B-A14D-4BA5-A718-F6E7ADBC4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FD5A-4082-4BE4-96FC-4C4C607629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61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4EBDDA-E62D-4396-A585-79909DF65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892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21B46D-FE47-4863-91F5-8DF27DBA3F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71081"/>
            <a:ext cx="10515600" cy="42779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7AB05-0A06-4E1C-9ABC-94BB04320F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A59539-6AA4-4B20-8277-ACCA791514EF}" type="datetimeFigureOut">
              <a:rPr lang="en-US" smtClean="0"/>
              <a:pPr/>
              <a:t>8/9/2026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3E9AF-D197-4E5B-86F0-EB12503E8F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D37BCB-A864-4AA7-AA0C-5BBFBA97E9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2AFD5A-4082-4BE4-96FC-4C4C607629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98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6">
              <a:lumMod val="50000"/>
            </a:schemeClr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2800" kern="1200">
          <a:solidFill>
            <a:schemeClr val="bg2">
              <a:lumMod val="1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chemeClr val="bg2">
              <a:lumMod val="1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chemeClr val="bg2">
              <a:lumMod val="1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bg2">
              <a:lumMod val="1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bg2">
              <a:lumMod val="1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2599" y="734445"/>
            <a:ext cx="6787025" cy="1378835"/>
          </a:xfrm>
        </p:spPr>
        <p:txBody>
          <a:bodyPr>
            <a:normAutofit fontScale="90000"/>
          </a:bodyPr>
          <a:lstStyle/>
          <a:p>
            <a:r>
              <a:rPr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Electrowinning Process for Copper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ABEB390-CF0F-46A5-7E76-0875504F9E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02440" y="2489200"/>
            <a:ext cx="7126274" cy="3634356"/>
          </a:xfrm>
        </p:spPr>
        <p:txBody>
          <a:bodyPr>
            <a:no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2</a:t>
            </a:r>
          </a:p>
          <a:p>
            <a:pPr algn="l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Solomon Ahedor                                                                                                                  1981322</a:t>
            </a:r>
          </a:p>
          <a:p>
            <a:pPr algn="l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Christian Mills                                                                                                                     1983822</a:t>
            </a:r>
          </a:p>
          <a:p>
            <a:pPr algn="l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Kingsley Sarpong                                                                                                                1985722</a:t>
            </a:r>
          </a:p>
          <a:p>
            <a:pPr algn="l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Christian Oduro                                                                                                                   7279521</a:t>
            </a:r>
          </a:p>
          <a:p>
            <a:pPr algn="l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Bettina Shika Gemegah                                                                                                       1983122</a:t>
            </a:r>
          </a:p>
          <a:p>
            <a:pPr algn="l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Lordina Erskine                                                                                                                   1982922</a:t>
            </a:r>
          </a:p>
          <a:p>
            <a:pPr algn="l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Rashid Abdul Sumaila                                                                                                         1985822</a:t>
            </a:r>
          </a:p>
          <a:p>
            <a:pPr algn="l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Emmanuel Kyei Sarfo                                                                                                          1985522</a:t>
            </a:r>
          </a:p>
          <a:p>
            <a:pPr algn="l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Kelvin Nana Adjei                                                                                                                7278821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Supervisor: Ing. Henry Agbe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08924"/>
            <a:ext cx="10515600" cy="948943"/>
          </a:xfrm>
        </p:spPr>
        <p:txBody>
          <a:bodyPr>
            <a:normAutofit/>
          </a:bodyPr>
          <a:lstStyle/>
          <a:p>
            <a:pPr algn="ctr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  <a:endParaRPr sz="3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4720" y="1442721"/>
            <a:ext cx="10419080" cy="4806356"/>
          </a:xfrm>
        </p:spPr>
        <p:txBody>
          <a:bodyPr>
            <a:normAutofit fontScale="850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Electrochemical Principles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Electrowinning vs. Electrorefining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Electrowinning Cell Design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Process Flow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Typical Operating Parameters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Challenges &amp; Advances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Cathode Harvesting &amp; Quality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Industrial Plant Case Studies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Recent Advances &amp; Future Outlook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&amp; Economic Significance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08F201-2256-E879-8FBC-96CCF64A7A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4457" y="2255520"/>
            <a:ext cx="4110263" cy="234696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5BC3F-5E54-FFDD-51BD-7DF9FF088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20E4B-DB6F-D98B-60E8-DEEF1E3ED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8925"/>
            <a:ext cx="10515600" cy="793156"/>
          </a:xfrm>
        </p:spPr>
        <p:txBody>
          <a:bodyPr>
            <a:normAutofit/>
          </a:bodyPr>
          <a:lstStyle/>
          <a:p>
            <a:pPr algn="ctr"/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779EE-3B42-0B63-25F5-3EDF0DE66C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02081"/>
            <a:ext cx="5181600" cy="4351338"/>
          </a:xfrm>
        </p:spPr>
        <p:txBody>
          <a:bodyPr>
            <a:normAutofit/>
          </a:bodyPr>
          <a:lstStyle/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Copper electrowinning (EW) recovers metallic copper from a purified sulfate solution by passing a DC current between an insoluble anode and a cathode.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step of the hydrometallurgical route (S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olvent Extraction-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EW), treating oxide and low-grade ores.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SX-EW accounts for 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bout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20% of global copper production.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Operates in a complementary role to conventional smelter-refineries.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B3C81F7-D1F4-0371-53C4-45B71EEB910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1402081"/>
            <a:ext cx="5334000" cy="435133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01999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08925"/>
            <a:ext cx="10515600" cy="569636"/>
          </a:xfrm>
        </p:spPr>
        <p:txBody>
          <a:bodyPr>
            <a:normAutofit/>
          </a:bodyPr>
          <a:lstStyle/>
          <a:p>
            <a:pPr algn="ctr"/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Electrochemical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595119"/>
            <a:ext cx="5334000" cy="4581843"/>
          </a:xfrm>
        </p:spPr>
        <p:txBody>
          <a:bodyPr>
            <a:normAutofit/>
          </a:bodyPr>
          <a:lstStyle/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Cathode Reaction: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Cu²⁺ + 2e⁻ → Cu⁰ (E° = +0.34 V)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Anode Reaction: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H₂O → ½O₂ + 2H⁺ + 2e⁻ (E° = -1.23 V)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overall cell reaction is thermodynamically unfavorable, requiring applied voltage.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Mass deposited is governed by Faraday's laws of electrolysis.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efficiency is typically 88–95% due to parasitic reactions (e.g., ferric ion reduction).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AB26EF9-A24C-6E1F-B115-1CE0139F310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595118"/>
            <a:ext cx="5257800" cy="366776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08925"/>
            <a:ext cx="10515600" cy="569636"/>
          </a:xfrm>
        </p:spPr>
        <p:txBody>
          <a:bodyPr>
            <a:normAutofit/>
          </a:bodyPr>
          <a:lstStyle/>
          <a:p>
            <a:pPr algn="ctr"/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Electrowinning Cell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Tanks are typically polymer concrete, electrically isolated.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Alternating flat rectangular anodes and cathodes are suspended vertically.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Anodes: Lead-calcium-tin/antimony alloys or dimensionally stable coated titanium.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Cathodes: copper starter sheets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permanent stainless-steel blanks.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Cobalt sulfate suppresses anode corrosion.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Guar gum promotes smooth deposits.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9207A83-E308-C6CA-9C32-E362C5C44AE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1825625"/>
            <a:ext cx="4973320" cy="3591775"/>
          </a:xfrm>
          <a:prstGeom prst="roundRect">
            <a:avLst>
              <a:gd name="adj" fmla="val 1675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08925"/>
            <a:ext cx="10515600" cy="549315"/>
          </a:xfrm>
        </p:spPr>
        <p:txBody>
          <a:bodyPr>
            <a:normAutofit/>
          </a:bodyPr>
          <a:lstStyle/>
          <a:p>
            <a:pPr algn="ctr"/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Process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534160"/>
            <a:ext cx="5181600" cy="4642803"/>
          </a:xfrm>
        </p:spPr>
        <p:txBody>
          <a:bodyPr/>
          <a:lstStyle/>
          <a:p>
            <a:pPr marL="0" indent="0">
              <a:buNone/>
            </a:pPr>
            <a:r>
              <a:rPr sz="1600" b="1" dirty="0"/>
              <a:t>Leaching: </a:t>
            </a:r>
            <a:endParaRPr lang="en-US" sz="1600" b="1" dirty="0"/>
          </a:p>
          <a:p>
            <a:pPr marL="0" indent="0">
              <a:buNone/>
            </a:pPr>
            <a:r>
              <a:rPr sz="1600" dirty="0"/>
              <a:t>Oxide ores irrigated with dilute H₂SO₄ to produce a pregnant leach solution (PLS).</a:t>
            </a:r>
          </a:p>
          <a:p>
            <a:pPr marL="0" indent="0">
              <a:buNone/>
            </a:pPr>
            <a:r>
              <a:rPr sz="1600" b="1" dirty="0"/>
              <a:t>Solvent Extraction (SX): </a:t>
            </a:r>
            <a:endParaRPr lang="en-US" sz="1600" b="1" dirty="0"/>
          </a:p>
          <a:p>
            <a:pPr marL="0" indent="0">
              <a:buNone/>
            </a:pPr>
            <a:r>
              <a:rPr sz="1600" dirty="0"/>
              <a:t>Organic extractant selectively binds copper, leaving impurities in raffinate. Copper is then stripped into a pure, concentrated electrolyte.</a:t>
            </a:r>
            <a:endParaRPr lang="en-US" sz="1600" dirty="0"/>
          </a:p>
          <a:p>
            <a:pPr marL="0" indent="0">
              <a:buNone/>
            </a:pPr>
            <a:r>
              <a:rPr sz="1600" dirty="0"/>
              <a:t> </a:t>
            </a:r>
            <a:r>
              <a:rPr sz="1600" b="1" dirty="0"/>
              <a:t>Electrowinning (EW):</a:t>
            </a:r>
            <a:endParaRPr lang="en-US" sz="1600" b="1" dirty="0"/>
          </a:p>
          <a:p>
            <a:pPr marL="0" indent="0">
              <a:buNone/>
            </a:pPr>
            <a:r>
              <a:rPr sz="1600" b="1" dirty="0"/>
              <a:t> </a:t>
            </a:r>
            <a:r>
              <a:rPr lang="en-US" sz="1600" dirty="0"/>
              <a:t>E</a:t>
            </a:r>
            <a:r>
              <a:rPr sz="1600" dirty="0"/>
              <a:t>lectrolyte is fed to the tankhouse. Copper deposits on cathodes</a:t>
            </a:r>
            <a:r>
              <a:rPr lang="en-US" sz="1600" dirty="0"/>
              <a:t> and </a:t>
            </a:r>
            <a:r>
              <a:rPr sz="1600" dirty="0"/>
              <a:t>spent electrolyte returns to SX.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E95B8E4C-0926-4FF0-B8E4-254956EA3C1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534161"/>
            <a:ext cx="5181600" cy="36068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Typical Operating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Cu²⁺ concentration: 35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45 g/L</a:t>
            </a:r>
          </a:p>
          <a:p>
            <a:pPr marL="0" indent="0">
              <a:buNone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H₂SO₄ concentration: 150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180 g/L</a:t>
            </a:r>
          </a:p>
          <a:p>
            <a:pPr marL="0" indent="0">
              <a:buNone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Electrolyte temperature: 40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 °C</a:t>
            </a:r>
          </a:p>
          <a:p>
            <a:pPr marL="0" indent="0">
              <a:buNone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density: 160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370 A/m²</a:t>
            </a:r>
            <a:endParaRPr lang="it-IT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it-I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Cell voltage: 2.0 - 2.2 V per cell</a:t>
            </a:r>
          </a:p>
          <a:p>
            <a:pPr marL="0" indent="0">
              <a:buNone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efficiency: 88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95%</a:t>
            </a:r>
          </a:p>
          <a:p>
            <a:pPr marL="0" indent="0">
              <a:buNone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 energy consumption: 1,800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2,000 kWh/t Cu</a:t>
            </a:r>
          </a:p>
          <a:p>
            <a:pPr marL="0" indent="0">
              <a:buNone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Deposition cycle: 5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 days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AD9D154-FA95-5939-11C8-6E81B2B2ADF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1825625"/>
            <a:ext cx="5334000" cy="382333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08925"/>
            <a:ext cx="10515600" cy="650916"/>
          </a:xfrm>
        </p:spPr>
        <p:txBody>
          <a:bodyPr>
            <a:normAutofit/>
          </a:bodyPr>
          <a:lstStyle/>
          <a:p>
            <a:pPr algn="ctr"/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Challenges &amp; Advances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45921"/>
            <a:ext cx="10515600" cy="46031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Iron Impurities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Fe³⁺ migration causes current-efficiency loss.</a:t>
            </a:r>
          </a:p>
          <a:p>
            <a:pPr marL="0" indent="0">
              <a:buNone/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Acid Mist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Oxygen bubbles entrain corrosive electrolyte. Controlled using floating balls, mats or chemical suppressants (e.g., fluorochemicals, glycyrrhizin).</a:t>
            </a:r>
          </a:p>
          <a:p>
            <a:pPr marL="0" indent="0">
              <a:buNone/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Advances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Permanent stainless-steel cathodes, robotic stripping machines and alternative anode reactions (ferrous/ferric or sulfur-dioxide-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depolarised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to lower cell voltage.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668336"/>
            <a:ext cx="10515600" cy="650241"/>
          </a:xfrm>
        </p:spPr>
        <p:txBody>
          <a:bodyPr>
            <a:normAutofit/>
          </a:bodyPr>
          <a:lstStyle/>
          <a:p>
            <a:pPr algn="ctr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Cathode Harvesting and Product Quality</a:t>
            </a:r>
            <a:endParaRPr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2014" y="1318577"/>
            <a:ext cx="5157787" cy="425703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Deposition Cycle: 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Harvested after 5 to 9 days (6-12 mm thick, 40-60 kg per sheet)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Stripping: 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Mechanical stripping machines peel copper from permanent stainless-steel blanks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Washing: 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Hot water wash (70-80°C) to remove residual acid and sulfate salts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Quality: 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LME Grade A purity (&gt;99.99% Cu)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Impurity Limits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≤ 5 ppm, Pb ≤ 2 ppm, Fe ≤ 2 ppm</a:t>
            </a:r>
          </a:p>
          <a:p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85E679E-C122-E971-BD9A-17E601628083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1" y="1318577"/>
            <a:ext cx="5157786" cy="425703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Industrial Plant Case Studies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Cerro Verde, Peru:</a:t>
            </a:r>
          </a:p>
          <a:p>
            <a:pPr marL="457200" lvl="1" indent="0">
              <a:buNone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Latin America's first commercial SX-EW plant</a:t>
            </a:r>
          </a:p>
          <a:p>
            <a:pPr marL="457200" lvl="1" indent="0">
              <a:buNone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Expanded capacity to 48,000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tonnes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/year at 250 A/m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²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Optimized to 368 A/m², doubling throughput while maintaining Grade A quality</a:t>
            </a:r>
          </a:p>
          <a:p>
            <a:pPr marL="0" indent="0">
              <a:buNone/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KCM Tankhouse, Zambia:</a:t>
            </a:r>
          </a:p>
          <a:p>
            <a:pPr marL="457200" lvl="1" indent="0">
              <a:buNone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controls: acid tenor, organic entrainment, cobalt sulfate and thiourea dosing</a:t>
            </a:r>
          </a:p>
          <a:p>
            <a:pPr marL="457200" lvl="1" indent="0">
              <a:buNone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Achieves 92% current efficiency with automated desludging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96EB2F0-FC94-9F88-0237-D4712FBDF3E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825626"/>
            <a:ext cx="5257800" cy="409495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08925"/>
            <a:ext cx="10515600" cy="935396"/>
          </a:xfrm>
        </p:spPr>
        <p:txBody>
          <a:bodyPr>
            <a:normAutofit/>
          </a:bodyPr>
          <a:lstStyle/>
          <a:p>
            <a:pPr algn="ctr"/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Recent Advances and Future Outlook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44321"/>
            <a:ext cx="10515600" cy="42779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Low-Voltage Anode Reactions: 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Ferrous/ferric or SO2-depolarized anodes can lower voltage below 1.5 V, yielding 30-40% energy savings</a:t>
            </a:r>
          </a:p>
          <a:p>
            <a:pPr marL="0" indent="0">
              <a:buNone/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MMO DSA Anodes: 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Catalytic coatings on titanium lower overpotential and eliminate lead sludge</a:t>
            </a:r>
          </a:p>
          <a:p>
            <a:pPr marL="0" indent="0">
              <a:buNone/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Robotics &amp; Automation: 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Robotic crane harvesting, AI-driven dosing and automated short-circuit laser scanning</a:t>
            </a:r>
          </a:p>
          <a:p>
            <a:pPr marL="0" indent="0">
              <a:buNone/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Ultra-High Current Density: 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Optimized fluid dynamics enable operation at 450 A/m²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and Economic Significance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55040" y="1825625"/>
            <a:ext cx="506476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Sustainable Pathway: 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 direct greenhouse gas emissions during the electrolysis process</a:t>
            </a:r>
          </a:p>
          <a:p>
            <a:pPr marL="0" indent="0">
              <a:buNone/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 Efficiency: 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economic processing of low-grade oxide ores and e-waste</a:t>
            </a:r>
          </a:p>
          <a:p>
            <a:pPr marL="0" indent="0">
              <a:buNone/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Consumption: 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Highly energy intensive (1,800 to 2,000 kWh/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tonne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Cu)</a:t>
            </a:r>
          </a:p>
          <a:p>
            <a:pPr marL="0" indent="0">
              <a:buNone/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Shift: 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 is transitioning towards renewable sources (solar/hydro) to lower indirect carbon footprint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624D64F-246B-B3A2-1AF3-1773C12C978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8960" y="2072640"/>
            <a:ext cx="5257800" cy="301751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08925"/>
            <a:ext cx="10515600" cy="935396"/>
          </a:xfrm>
        </p:spPr>
        <p:txBody>
          <a:bodyPr>
            <a:normAutofit/>
          </a:bodyPr>
          <a:lstStyle/>
          <a:p>
            <a:pPr algn="ctr"/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Electrowinning remains a vital process for converting copper leach solutions into high-purity cathode metal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plants achieve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94% current efficiency by integrating permanent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stainless-steel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cathodes and optimized additives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technology is continuously advancing towards lower-overpotential anodes and fully automated tankhouse operations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1C8898-4FF4-C4AB-8B30-42F278107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102350"/>
            <a:ext cx="2743200" cy="365125"/>
          </a:xfrm>
        </p:spPr>
        <p:txBody>
          <a:bodyPr/>
          <a:lstStyle/>
          <a:p>
            <a:fld id="{C52AFD5A-4082-4BE4-96FC-4C4C6076294A}" type="slidenum">
              <a:rPr lang="en-US" smtClean="0"/>
              <a:t>14</a:t>
            </a:fld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rgbClr val="38201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28025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KWC light.potx" id="{3AAB5C5D-F81D-415E-B016-C95F4778E009}" vid="{707FFEF3-20E4-4742-9351-C9F6B3F1404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KWC light</Template>
  <TotalTime>1821</TotalTime>
  <Words>838</Words>
  <Application>Microsoft Office PowerPoint</Application>
  <PresentationFormat>Widescreen</PresentationFormat>
  <Paragraphs>111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Times New Roman</vt:lpstr>
      <vt:lpstr>Wingdings</vt:lpstr>
      <vt:lpstr>Office Theme</vt:lpstr>
      <vt:lpstr>Electrowinning Process for Copper</vt:lpstr>
      <vt:lpstr>Content</vt:lpstr>
      <vt:lpstr>Introduction</vt:lpstr>
      <vt:lpstr>Electrochemical Principles</vt:lpstr>
      <vt:lpstr>Electrowinning Cell Design</vt:lpstr>
      <vt:lpstr>Overall Process Flow</vt:lpstr>
      <vt:lpstr>Typical Operating Parameters</vt:lpstr>
      <vt:lpstr>Operating Challenges &amp; Advances</vt:lpstr>
      <vt:lpstr>Cathode Harvesting and Product Quality</vt:lpstr>
      <vt:lpstr>Industrial Plant Case Studies</vt:lpstr>
      <vt:lpstr>Recent Advances and Future Outlook</vt:lpstr>
      <vt:lpstr>Environmental and Economic Significance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Vincent Hope</dc:creator>
  <cp:lastModifiedBy>Solomon Ahedor</cp:lastModifiedBy>
  <cp:revision>57</cp:revision>
  <dcterms:created xsi:type="dcterms:W3CDTF">2023-07-24T13:47:17Z</dcterms:created>
  <dcterms:modified xsi:type="dcterms:W3CDTF">2026-08-10T01:25:08Z</dcterms:modified>
</cp:coreProperties>
</file>