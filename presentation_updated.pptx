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71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8" autoAdjust="0"/>
    <p:restoredTop sz="94660"/>
  </p:normalViewPr>
  <p:slideViewPr>
    <p:cSldViewPr snapToGrid="0">
      <p:cViewPr varScale="1">
        <p:scale>
          <a:sx n="63" d="100"/>
          <a:sy n="63" d="100"/>
        </p:scale>
        <p:origin x="648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529F3-F06F-4596-8F53-725C5338C942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CFA19B-BB2D-4F31-BF43-98359269A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40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FC4D8-7267-481C-97FB-88531F8E7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45EB4-C8E9-4276-9892-A8BD1C24C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952CF-CF54-495A-A737-C76F22C53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F82B9-480E-49D4-AFD3-A3BC21B8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CFFCE-F9B6-482C-816E-091792F2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71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67FC0-FF7C-4F6B-A842-ECAEDD755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F3BD4-EEBC-444E-88DB-259F6F33A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BFAAB-6BAC-4D88-8AF7-FC846BF04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DD7F4-E6AC-4CB6-B687-556E6DB5B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A703C-113A-46CC-AC65-292EB067D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042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E7A4B-0F44-4E42-939A-CDE6C4A49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440" y="307011"/>
            <a:ext cx="6787025" cy="29860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B6593-CC60-4C4A-B097-A7D3799BD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02440" y="3883454"/>
            <a:ext cx="6787025" cy="79228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6C689-8E98-4045-AAAC-AC66298D8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3411" y="5266097"/>
            <a:ext cx="1482526" cy="365125"/>
          </a:xfrm>
        </p:spPr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7DCE6-A108-4CE1-BB08-97701D342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71167" y="5266096"/>
            <a:ext cx="202653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8B96D-492C-4CC3-A033-5EA3A2F3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62931" y="5266095"/>
            <a:ext cx="2026534" cy="365125"/>
          </a:xfrm>
        </p:spPr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46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E1157-304E-4446-9FA2-A0D0F7A50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4CE9E-70A6-48AD-A24A-13D574383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BE2C5-1B89-4EE8-A540-906472A1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BB858-CDD0-459B-8AA4-9272BD26A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7E86D-82BE-4E26-A9C3-95CC0F497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D830B-C931-46B1-8F17-16243BFD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77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CABEE-5ED7-4733-B755-CB96ADE7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A0618-A658-46BD-AB6D-8208DA7FC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67DBE-C48C-42A1-94A3-9527A0944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F27F4C-4D8F-4F03-9881-DADD3BC80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57925D-369F-411F-B885-734AB70D29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3643A2-98F3-42F1-9A82-FA5FFD7F8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162CF4-4E17-4D39-8E8E-8949A9CD9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DEEB83-1757-489A-8EE3-E5F48A35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87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650B1-6BD1-4645-81EE-9AC7858D8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856AC-1564-422B-A261-A405B2217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EC8FB-F905-4A5D-AB53-12C1AADB9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74DBB-D2BA-424E-A50D-E0D78897E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88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92351-298C-4CA7-A9E3-56F637FA4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F81D90-C9C0-4B17-89C3-13DA3A911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E314D-FD1B-4975-AE16-9CDCC6342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20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29E3F-372A-407D-B334-3FD277550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40B83-8870-4B46-9F59-5CC84DEFB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CC3D7-7F10-42DA-8696-266C3AE69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E5CF6-7F8D-4850-9864-97DA86EA7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46AFE-B880-46F5-B5C6-2DEC8AAFB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75EDA-D7C7-4D5B-8ADA-2C4C0D169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89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0A279-B977-4A7C-87E5-62231D946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C0D755-8571-44A5-AE1A-89C9201F5B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34A2E-AFFE-48A4-A1FD-8FC6BEE61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5560A-540C-47FC-A6B0-66552206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A1103-4151-4737-9D9F-ECB366AA7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0B3C5-F017-4E10-86F3-4C24DEFA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5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1024C-8551-48EC-85CB-36598BBE2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7669F4-208D-4BAB-82BE-F275945E2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81D84-11A2-4845-9DEE-21A1FB2F7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461C0-7A06-45C8-A0F8-23FAD46F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6CCC8-2ED3-42E3-8030-B0E9DF79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93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05E5C2-3281-4A33-88C5-C97138BFAC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B8C3E-19EC-4156-82C4-FA8E3ACF7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8D120-4C33-4D5C-A088-1E777963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8C907-51F8-4CCC-8671-CA5B649EB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80B0B-A14D-4BA5-A718-F6E7ADBC4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13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4EBDDA-E62D-4396-A585-79909DF65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9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1B46D-FE47-4863-91F5-8DF27DBA3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71081"/>
            <a:ext cx="10515600" cy="4277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7AB05-0A06-4E1C-9ABC-94BB04320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3E9AF-D197-4E5B-86F0-EB12503E8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37BCB-A864-4AA7-AA0C-5BBFBA97E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>
              <a:lumMod val="50000"/>
            </a:schemeClr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599" y="734445"/>
            <a:ext cx="6787025" cy="1378835"/>
          </a:xfrm>
        </p:spPr>
        <p:txBody>
          <a:bodyPr>
            <a:normAutofit fontScale="90000"/>
          </a:bodyPr>
          <a:lstStyle/>
          <a:p>
            <a:r>
              <a:rPr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Electrowinning Process for Copper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BEB390-CF0F-46A5-7E76-0875504F9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02440" y="2489200"/>
            <a:ext cx="7126274" cy="3634356"/>
          </a:xfrm>
        </p:spPr>
        <p:txBody>
          <a:bodyPr>
            <a:no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2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Solomon Ahedor                                                                                                                  1981322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Christian Mills                                                                                                                     1983822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Kingsley Sarpong                                                                                                                1985722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Christian Oduro                                                                                                                   7279521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Bettina Shika Gemegah                                                                                                       1983122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Lordina Erskine                                                                                                                   1982922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Rashid Abdul Sumaila                                                                                                         1985822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Emmanuel Kyei Sarfo                                                                                                          1985522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Kelvin Nana Adjei                                                                                                                7278821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Ing. Henry Agbe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8924"/>
            <a:ext cx="10515600" cy="948943"/>
          </a:xfrm>
        </p:spPr>
        <p:txBody>
          <a:bodyPr>
            <a:norm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rPr sz="2000"/>
              <a:t>Introduction</a:t>
            </a:r>
          </a:p>
          <a:p>
            <a:pPr/>
            <a:r>
              <a:rPr sz="2000"/>
              <a:t>Electrochemical Principles</a:t>
            </a:r>
          </a:p>
          <a:p>
            <a:pPr/>
            <a:r>
              <a:rPr sz="2000"/>
              <a:t>Electrowinning vs. Electrorefining</a:t>
            </a:r>
          </a:p>
          <a:p>
            <a:pPr/>
            <a:r>
              <a:rPr sz="2000"/>
              <a:t>Electrowinning Cell Design</a:t>
            </a:r>
          </a:p>
          <a:p>
            <a:pPr/>
            <a:r>
              <a:rPr sz="2000"/>
              <a:t>Overall Process Flow</a:t>
            </a:r>
          </a:p>
          <a:p>
            <a:pPr/>
            <a:r>
              <a:rPr sz="2000"/>
              <a:t>Typical Operating Parameters</a:t>
            </a:r>
          </a:p>
          <a:p>
            <a:pPr/>
            <a:r>
              <a:rPr sz="2000"/>
              <a:t>Operating Challenges &amp; Advances</a:t>
            </a:r>
          </a:p>
          <a:p>
            <a:pPr/>
            <a:r>
              <a:rPr sz="2000"/>
              <a:t>Cathode Harvesting &amp; Quality</a:t>
            </a:r>
          </a:p>
          <a:p>
            <a:pPr/>
            <a:r>
              <a:rPr sz="2000"/>
              <a:t>Industrial Plant Case Studies</a:t>
            </a:r>
          </a:p>
          <a:p>
            <a:pPr/>
            <a:r>
              <a:rPr sz="2000"/>
              <a:t>Recent Advances &amp; Future Outlook</a:t>
            </a:r>
          </a:p>
          <a:p>
            <a:pPr/>
            <a:r>
              <a:rPr sz="2000"/>
              <a:t>Environmental &amp; Economic Significance</a:t>
            </a:r>
          </a:p>
          <a:p>
            <a:pPr/>
            <a:r>
              <a:rPr sz="2000"/>
              <a:t>Conclusion</a:t>
            </a:r>
          </a:p>
          <a:p>
            <a:pPr/>
            <a:r>
              <a:rPr sz="200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5BC3F-5E54-FFDD-51BD-7DF9FF088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0E4B-DB6F-D98B-60E8-DEEF1E3ED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</a:t>
            </a:r>
            <a:r>
              <a:rPr lang="en-US" dirty="0"/>
              <a:t>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779EE-3B42-0B63-25F5-3EDF0DE66C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Copper electrowinning (EW) recovers metallic copper from a purified sulfate solution by passing a DC current between an insoluble anode and a cathode.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step of the hydrometallurgical route (SX-EW), treating oxide and low-grade ores.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SX-EW accounts for approximately 20% of global copper production.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in a complementary role to conventional smelter-refineries.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10920B-57B7-71A5-3B46-A69E728F20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9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Electrochemical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• Cathode Reaction: Cu²⁺ + 2e⁻ → Cu⁰ (E° = +0.34 V)</a:t>
            </a:r>
          </a:p>
          <a:p>
            <a:r>
              <a:rPr sz="1600"/>
              <a:t>• Anode Reaction: H₂O → ½O₂ + 2H⁺ + 2e⁻ (E° = -1.23 V)</a:t>
            </a:r>
          </a:p>
          <a:p>
            <a:r>
              <a:rPr sz="1600"/>
              <a:t>• The overall cell reaction is thermodynamically unfavourable, requiring applied voltage.</a:t>
            </a:r>
          </a:p>
          <a:p>
            <a:r>
              <a:rPr sz="1600"/>
              <a:t>• Mass deposited is governed by Faraday's laws of electrolysis.</a:t>
            </a:r>
          </a:p>
          <a:p>
            <a:r>
              <a:rPr sz="1600"/>
              <a:t>• Current efficiency is typically 88–95% due to parasitic reactions (e.g., ferric ion reduction).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Electrowinning vs. Electrorefining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• Electrorefining (ER): Uses impure copper anodes (dissolution). Voltage ~0.2–0.3V. Specific energy ~200–300 kWh/t Cu. Produces ~95% of world copper.</a:t>
            </a:r>
          </a:p>
          <a:p>
            <a:r>
              <a:rPr sz="1600"/>
              <a:t>• Electrowinning (EW): Uses inert lead alloy or coated titanium anodes (oxygen evolution). Voltage ~2.0–2.2V. Specific energy ~1,800–2,000 kWh/t Cu. Produces ~20% of world copper (via SX-EW).</a:t>
            </a:r>
          </a:p>
          <a:p>
            <a:r>
              <a:rPr sz="1600"/>
              <a:t>• EW is indispensable for recovering copper directly from dissolved leach solutions without smelting.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Electrowinning Cell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• Tanks are typically polymer concrete, electrically isolated.</a:t>
            </a:r>
          </a:p>
          <a:p>
            <a:r>
              <a:rPr sz="1600"/>
              <a:t>• Alternating flat rectangular anodes and cathodes are suspended vertically.</a:t>
            </a:r>
          </a:p>
          <a:p>
            <a:r>
              <a:rPr sz="1600"/>
              <a:t>• Anodes: Lead-calcium-tin/antimony alloys or dimensionally stable coated titanium.</a:t>
            </a:r>
          </a:p>
          <a:p>
            <a:r>
              <a:rPr sz="1600"/>
              <a:t>• Cathodes: Historically copper starter sheets; modern plants use permanent stainless-steel blanks.</a:t>
            </a:r>
          </a:p>
          <a:p>
            <a:r>
              <a:rPr sz="1600"/>
              <a:t>• Cobalt sulfate (100–200 mg/L) suppresses anode corrosion. Guar gum promotes smooth deposits.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Process Flow (Ore to Cathode)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1. Leaching: Oxide ores irrigated with dilute H₂SO₄ to produce a pregnant leach solution (PLS).</a:t>
            </a:r>
          </a:p>
          <a:p>
            <a:r>
              <a:rPr sz="1600"/>
              <a:t>2. Solvent Extraction (SX): Organic extractant selectively binds copper, leaving impurities in raffinate. Copper is then stripped into a pure, concentrated advance electrolyte.</a:t>
            </a:r>
          </a:p>
          <a:p>
            <a:r>
              <a:rPr sz="1600"/>
              <a:t>3. Electrowinning (EW): Advance electrolyte is fed to the tankhouse. Copper deposits on cathodes; spent electrolyte returns to SX.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Operating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• Cu²⁺ concentration: 35–45 g/L</a:t>
            </a:r>
          </a:p>
          <a:p>
            <a:r>
              <a:rPr sz="1600"/>
              <a:t>• H₂SO₄ concentration: 150–180 g/L</a:t>
            </a:r>
          </a:p>
          <a:p>
            <a:r>
              <a:rPr sz="1600"/>
              <a:t>• Electrolyte temperature: 40–50 °C</a:t>
            </a:r>
          </a:p>
          <a:p>
            <a:r>
              <a:rPr sz="1600"/>
              <a:t>• Current density: 160–370 A/m² (up to &gt;450 A/m² in modern plants)</a:t>
            </a:r>
          </a:p>
          <a:p>
            <a:r>
              <a:rPr sz="1600"/>
              <a:t>• Cell voltage: 2.0–2.2 V per cell</a:t>
            </a:r>
          </a:p>
          <a:p>
            <a:r>
              <a:rPr sz="1600"/>
              <a:t>• Current efficiency: 88–95%</a:t>
            </a:r>
          </a:p>
          <a:p>
            <a:r>
              <a:rPr sz="1600"/>
              <a:t>• Specific energy consumption: 1,800–2,000 kWh/t Cu</a:t>
            </a:r>
          </a:p>
          <a:p>
            <a:r>
              <a:rPr sz="1600"/>
              <a:t>• Deposition cycle: 5–9 days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Challenges &amp; Advances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• Iron Impurities: Fe³⁺ migration causes parasitic current-efficiency loss.</a:t>
            </a:r>
          </a:p>
          <a:p>
            <a:r>
              <a:rPr sz="1600"/>
              <a:t>• Acid Mist: Oxygen bubbles entrain corrosive electrolyte. Controlled using floating balls, mats, or chemical suppressants (e.g., fluorochemicals, glycyrrhizin).</a:t>
            </a:r>
          </a:p>
          <a:p>
            <a:r>
              <a:rPr sz="1600"/>
              <a:t>• Advances: Permanent stainless-steel cathodes, robotic stripping machines, and alternative anode reactions (ferrous/ferric or sulfur-dioxide-depolarised) to lower cell voltage.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Cathode Harvesting and Product Quality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200"/>
              <a:t>Deposition Cycle: Harvested after 5 to 9 days (6-12 mm thick, 40-60 kg per sheet)</a:t>
            </a:r>
            <a:endParaRPr/>
          </a:p>
          <a:p>
            <a:pPr/>
            <a:r>
              <a:rPr sz="2200"/>
              <a:t>Stripping: Mechanical stripping machines peel copper from permanent stainless steel blanks</a:t>
            </a:r>
          </a:p>
          <a:p>
            <a:pPr/>
            <a:r>
              <a:rPr sz="2200"/>
              <a:t>Washing: Hot water wash (70-80°C) to remove residual acid and sulfate salts</a:t>
            </a:r>
          </a:p>
          <a:p>
            <a:pPr/>
            <a:r>
              <a:rPr sz="2200"/>
              <a:t>Quality: LME Grade A purity (&gt;99.99% Cu)</a:t>
            </a:r>
          </a:p>
          <a:p>
            <a:pPr/>
            <a:r>
              <a:rPr sz="2200"/>
              <a:t>Impurity Limits: S ≤ 5 ppm, Pb ≤ 2 ppm, Fe ≤ 2 ppm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Industrial Plant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Cerro Verde, Peru:</a:t>
            </a:r>
          </a:p>
          <a:p>
            <a:pPr lvl="1"/>
            <a:r>
              <a:rPr sz="2200"/>
              <a:t>  - Latin America's first commercial SX-EW plant</a:t>
            </a:r>
          </a:p>
          <a:p>
            <a:pPr lvl="1"/>
            <a:r>
              <a:rPr sz="2200"/>
              <a:t>  - Expanded capacity to 48,000 tonnes/year at 250 A/m²</a:t>
            </a:r>
          </a:p>
          <a:p>
            <a:pPr lvl="1"/>
            <a:r>
              <a:rPr sz="2200"/>
              <a:t>  - Optimized to 368 A/m², doubling throughput while maintaining Grade A quality</a:t>
            </a:r>
          </a:p>
          <a:p>
            <a:pPr/>
            <a:r>
              <a:rPr sz="2200"/>
              <a:t>KCM Tankhouse, Zambia:</a:t>
            </a:r>
          </a:p>
          <a:p>
            <a:pPr lvl="1"/>
            <a:r>
              <a:rPr sz="2200"/>
              <a:t>  - Key controls: acid tenor, organic entrainment, cobalt sulfate and thiourea dosing</a:t>
            </a:r>
          </a:p>
          <a:p>
            <a:pPr lvl="1"/>
            <a:r>
              <a:rPr sz="2200"/>
              <a:t>  - Achieves 92% current efficiency with automated desludging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Advances and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Low-Voltage Anode Reactions: Ferrous/ferric or SO2-depolarized anodes can lower voltage below 1.5 V, yielding 30-40% energy savings</a:t>
            </a:r>
          </a:p>
          <a:p>
            <a:pPr/>
            <a:r>
              <a:rPr sz="2200"/>
              <a:t>MMO DSA Anodes: Catalytic coatings on titanium lower overpotential and eliminate lead sludge</a:t>
            </a:r>
          </a:p>
          <a:p>
            <a:pPr/>
            <a:r>
              <a:rPr sz="2200"/>
              <a:t>Robotics &amp; Automation: Robotic crane harvesting, AI-driven dosing, and automated short-circuit laser scanning</a:t>
            </a:r>
          </a:p>
          <a:p>
            <a:pPr/>
            <a:r>
              <a:rPr sz="2200"/>
              <a:t>Ultra-High Current Density: Optimized fluid dynamics enable operation at &gt;450 A/m²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and Economic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Sustainable Pathway: Zero direct greenhouse gas emissions during the electrolysis process</a:t>
            </a:r>
          </a:p>
          <a:p>
            <a:pPr/>
            <a:r>
              <a:rPr sz="2200"/>
              <a:t>Resource Efficiency: Enables economic processing of low-grade oxide ores and e-waste</a:t>
            </a:r>
          </a:p>
          <a:p>
            <a:pPr/>
            <a:r>
              <a:rPr sz="2200"/>
              <a:t>Energy Consumption: Highly energy intensive (1,800 to 2,000 kWh/tonne Cu)</a:t>
            </a:r>
          </a:p>
          <a:p>
            <a:pPr/>
            <a:r>
              <a:rPr sz="2200"/>
              <a:t>Future Shift: Industry is transitioning towards renewable sources (solar/hydro) to lower indirect carbon footprint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Electrowinning remains a vital process for converting copper leach solutions into high-purity cathode metal</a:t>
            </a:r>
          </a:p>
          <a:p>
            <a:pPr/>
            <a:r>
              <a:rPr sz="2200"/>
              <a:t>Modern plants achieve &gt;94% current efficiency by integrating permanent stainless steel cathodes and optimized additives</a:t>
            </a:r>
          </a:p>
          <a:p>
            <a:pPr/>
            <a:r>
              <a:rPr sz="2200"/>
              <a:t>The technology is continuously advancing towards lower-overpotential anodes and fully automated tankhouse operations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Bartos, P.J. (2002) 'SX-EW copper and the technology cycle', Resources Policy, 28(3–4).</a:t>
            </a:r>
          </a:p>
          <a:p>
            <a:pPr/>
            <a:r>
              <a:rPr sz="2200"/>
              <a:t>Davenport, W.G. et al. (2002) Extractive Metallurgy of Copper. 4th edn.</a:t>
            </a:r>
          </a:p>
          <a:p>
            <a:pPr/>
            <a:r>
              <a:rPr sz="2200"/>
              <a:t>Schlesinger, M.E. et al. (2011) Extractive Metallurgy of Copper. 5th edn.</a:t>
            </a:r>
          </a:p>
          <a:p>
            <a:pPr/>
            <a:r>
              <a:rPr sz="2200"/>
              <a:t>SAIMM (2002) 'Copper recovery using leach/solvent extraction/electrowinning technology'.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WC light.potx" id="{3AAB5C5D-F81D-415E-B016-C95F4778E009}" vid="{707FFEF3-20E4-4742-9351-C9F6B3F14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KWC light</Template>
  <TotalTime>1703</TotalTime>
  <Words>603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Wingdings</vt:lpstr>
      <vt:lpstr>Office Theme</vt:lpstr>
      <vt:lpstr>Electrowinning Process for Copper</vt:lpstr>
      <vt:lpstr>Content</vt:lpstr>
      <vt:lpstr>Introduction</vt:lpstr>
      <vt:lpstr>Electrochemical Principles</vt:lpstr>
      <vt:lpstr>Electrowinning vs. Electrorefining</vt:lpstr>
      <vt:lpstr>Electrowinning Cell Design</vt:lpstr>
      <vt:lpstr>Overall Process Flow (Ore to Cathode)</vt:lpstr>
      <vt:lpstr>Typical Operating Parameters</vt:lpstr>
      <vt:lpstr>Operating Challenges &amp; Advances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 Hope</dc:creator>
  <cp:lastModifiedBy>Solomon Ahedor</cp:lastModifiedBy>
  <cp:revision>48</cp:revision>
  <dcterms:created xsi:type="dcterms:W3CDTF">2023-07-24T13:47:17Z</dcterms:created>
  <dcterms:modified xsi:type="dcterms:W3CDTF">2026-08-09T23:17:41Z</dcterms:modified>
</cp:coreProperties>
</file>